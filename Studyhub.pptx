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306" r:id="rId3"/>
    <p:sldId id="261" r:id="rId4"/>
    <p:sldId id="307" r:id="rId5"/>
    <p:sldId id="296" r:id="rId6"/>
    <p:sldId id="308" r:id="rId7"/>
    <p:sldId id="297" r:id="rId8"/>
    <p:sldId id="309" r:id="rId9"/>
    <p:sldId id="301" r:id="rId10"/>
    <p:sldId id="310" r:id="rId11"/>
    <p:sldId id="298" r:id="rId12"/>
    <p:sldId id="311" r:id="rId13"/>
    <p:sldId id="299" r:id="rId14"/>
    <p:sldId id="312" r:id="rId15"/>
    <p:sldId id="300" r:id="rId16"/>
    <p:sldId id="313" r:id="rId17"/>
    <p:sldId id="302" r:id="rId18"/>
    <p:sldId id="314" r:id="rId19"/>
    <p:sldId id="305" r:id="rId20"/>
    <p:sldId id="315" r:id="rId21"/>
    <p:sldId id="304" r:id="rId22"/>
    <p:sldId id="316" r:id="rId23"/>
    <p:sldId id="303" r:id="rId24"/>
  </p:sldIdLst>
  <p:sldSz cx="9144000" cy="5143500" type="screen16x9"/>
  <p:notesSz cx="6858000" cy="9144000"/>
  <p:embeddedFontLst>
    <p:embeddedFont>
      <p:font typeface="Lexend Deca" panose="020B0604020202020204" charset="-78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138BE6-E374-4A1A-BE6D-9E52B14417BE}">
  <a:tblStyle styleId="{1A138BE6-E374-4A1A-BE6D-9E52B14417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0286F9A-8295-4760-8310-7838FB866F3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19" autoAdjust="0"/>
    <p:restoredTop sz="94660"/>
  </p:normalViewPr>
  <p:slideViewPr>
    <p:cSldViewPr snapToGrid="0">
      <p:cViewPr varScale="1">
        <p:scale>
          <a:sx n="89" d="100"/>
          <a:sy n="89" d="100"/>
        </p:scale>
        <p:origin x="5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F2696AE-2033-B48B-F000-91A0A20FD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80803DAD-125C-5E27-3750-A81096FC5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7930A1D5-167E-F5CC-D190-9AF118574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518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62D7F64-A54F-513B-4F82-D243363C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8A96A852-6447-568D-D605-264000AAA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43F36974-1A05-8E18-36E8-351768137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273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593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BE6327B-278C-C003-BC2B-3AD12C69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0B0A36C2-B276-4F06-EE0B-7A985B1EE1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1E823E51-2031-1162-F9B2-FF78325E6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368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9240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C5C80DFE-2103-89D9-C9DC-A6D4BD39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2164E232-9FCB-4A61-B790-A02CE19968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918F89B4-62FA-1DBA-D322-BA4E2BFAA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4728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4245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1BD0478-1FA5-5FB8-AF8F-98050A48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182A9133-F9C8-2365-1314-5FBCF41A25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ECD255D1-F4E8-1403-DC69-255D4EAAE4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105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5173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3442DF6D-FBDB-AA7B-CF4D-63A228617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37EEC75A-9D50-7376-ECB9-3C86F0B74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143430A7-EFD8-9BD8-8BB3-FB7A783544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5641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1050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B94D924-B036-103E-0834-D03BD9E0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9B11E595-B8B3-8884-B2BB-C979F172A2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ABF1E656-5749-D691-1CB9-35B4FC2EB5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96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6778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A9F2E63B-4096-96DC-08EA-93CC1343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7E206009-F1A0-5AFC-266B-B5402B71A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C54B14EF-0D05-DA03-6BBF-109DDB987E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4721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926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6F2BA8EB-716C-6BB3-A44E-DF5C75C2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85810D42-6C85-8C42-6EF5-E9ECC2F81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9E61953D-F117-EBD8-C62C-8B155849A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71439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1214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716AAE5-9805-322C-8BE5-5F8550DF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CD321DB4-3461-BB72-3F00-1483DB6C9C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F0481F24-56EE-2689-8030-4B8389BA7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7610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8670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5BAADE55-08EC-DC7C-457A-2C57F2C2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f391192_029:notes">
            <a:extLst>
              <a:ext uri="{FF2B5EF4-FFF2-40B4-BE49-F238E27FC236}">
                <a16:creationId xmlns:a16="http://schemas.microsoft.com/office/drawing/2014/main" id="{C60CD031-23DF-7261-71C7-D1AF1F27F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f391192_029:notes">
            <a:extLst>
              <a:ext uri="{FF2B5EF4-FFF2-40B4-BE49-F238E27FC236}">
                <a16:creationId xmlns:a16="http://schemas.microsoft.com/office/drawing/2014/main" id="{33DACB98-AF87-414C-DE7F-A9AC5272D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62486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781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"/>
            <a:ext cx="914395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45390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2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2916254"/>
            <a:ext cx="42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⬡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∙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0550" y="1352550"/>
            <a:ext cx="6014400" cy="3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653446" y="1050906"/>
            <a:ext cx="4635014" cy="151516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StudyHub</a:t>
            </a:r>
            <a:endParaRPr sz="6000" dirty="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475" y="1050906"/>
            <a:ext cx="1782850" cy="20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0814" y="378324"/>
            <a:ext cx="662500" cy="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3770" y="884611"/>
            <a:ext cx="482075" cy="5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1692" y="4034576"/>
            <a:ext cx="586165" cy="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04399" y="3624439"/>
            <a:ext cx="321850" cy="44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664593" y="3757882"/>
            <a:ext cx="321850" cy="4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2;p19">
            <a:extLst>
              <a:ext uri="{FF2B5EF4-FFF2-40B4-BE49-F238E27FC236}">
                <a16:creationId xmlns:a16="http://schemas.microsoft.com/office/drawing/2014/main" id="{F7C8A460-111B-48EA-ABD5-2D9BC2F8E73B}"/>
              </a:ext>
            </a:extLst>
          </p:cNvPr>
          <p:cNvSpPr txBox="1">
            <a:spLocks/>
          </p:cNvSpPr>
          <p:nvPr/>
        </p:nvSpPr>
        <p:spPr>
          <a:xfrm>
            <a:off x="728750" y="2152842"/>
            <a:ext cx="33327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indent="0">
              <a:buFont typeface="Muli"/>
              <a:buNone/>
            </a:pPr>
            <a:r>
              <a:rPr lang="en-US" sz="2200" dirty="0">
                <a:solidFill>
                  <a:schemeClr val="accent3"/>
                </a:solidFill>
              </a:rPr>
              <a:t>A Plataforma </a:t>
            </a:r>
            <a:r>
              <a:rPr lang="en-US" sz="2200" dirty="0" err="1">
                <a:solidFill>
                  <a:schemeClr val="accent3"/>
                </a:solidFill>
              </a:rPr>
              <a:t>definitiva</a:t>
            </a:r>
            <a:endParaRPr lang="en-US" sz="2200" dirty="0">
              <a:solidFill>
                <a:schemeClr val="accent3"/>
              </a:solidFill>
            </a:endParaRPr>
          </a:p>
        </p:txBody>
      </p:sp>
      <p:sp>
        <p:nvSpPr>
          <p:cNvPr id="2" name="Google Shape;112;p19">
            <a:extLst>
              <a:ext uri="{FF2B5EF4-FFF2-40B4-BE49-F238E27FC236}">
                <a16:creationId xmlns:a16="http://schemas.microsoft.com/office/drawing/2014/main" id="{0F314939-BF0D-6615-D260-D39C6AC18B27}"/>
              </a:ext>
            </a:extLst>
          </p:cNvPr>
          <p:cNvSpPr txBox="1">
            <a:spLocks/>
          </p:cNvSpPr>
          <p:nvPr/>
        </p:nvSpPr>
        <p:spPr>
          <a:xfrm>
            <a:off x="417751" y="3391783"/>
            <a:ext cx="3568395" cy="1180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indent="0">
              <a:buFont typeface="Muli"/>
              <a:buNone/>
            </a:pPr>
            <a:r>
              <a:rPr lang="pt-BR" sz="1400" b="1" dirty="0">
                <a:solidFill>
                  <a:schemeClr val="accent3"/>
                </a:solidFill>
              </a:rPr>
              <a:t>FATEC – 2º Semestre. Feito por:</a:t>
            </a:r>
          </a:p>
          <a:p>
            <a:pPr marL="285750" indent="-285750"/>
            <a:r>
              <a:rPr lang="pt-BR" sz="1400" dirty="0">
                <a:solidFill>
                  <a:schemeClr val="accent3"/>
                </a:solidFill>
              </a:rPr>
              <a:t>João Vitor Costa do Nascimento </a:t>
            </a:r>
          </a:p>
          <a:p>
            <a:pPr marL="285750" indent="-285750"/>
            <a:r>
              <a:rPr lang="pt-BR" sz="1400" dirty="0">
                <a:solidFill>
                  <a:schemeClr val="accent3"/>
                </a:solidFill>
              </a:rPr>
              <a:t>Lucas de Carvalho Donizeti</a:t>
            </a:r>
          </a:p>
          <a:p>
            <a:pPr marL="285750" indent="-285750"/>
            <a:r>
              <a:rPr lang="pt-BR" sz="1400" dirty="0" err="1">
                <a:solidFill>
                  <a:schemeClr val="accent3"/>
                </a:solidFill>
              </a:rPr>
              <a:t>Nathanael</a:t>
            </a:r>
            <a:r>
              <a:rPr lang="pt-BR" sz="1400" dirty="0">
                <a:solidFill>
                  <a:schemeClr val="accent3"/>
                </a:solidFill>
              </a:rPr>
              <a:t> Mariano Alves</a:t>
            </a:r>
          </a:p>
          <a:p>
            <a:pPr marL="285750" indent="-285750"/>
            <a:r>
              <a:rPr lang="pt-BR" sz="1400" dirty="0">
                <a:solidFill>
                  <a:schemeClr val="accent3"/>
                </a:solidFill>
              </a:rPr>
              <a:t>Paolo Moreira </a:t>
            </a:r>
            <a:r>
              <a:rPr lang="pt-BR" sz="1400" dirty="0" err="1">
                <a:solidFill>
                  <a:schemeClr val="accent3"/>
                </a:solidFill>
              </a:rPr>
              <a:t>Moutela</a:t>
            </a:r>
            <a:r>
              <a:rPr lang="pt-BR" sz="1400" dirty="0">
                <a:solidFill>
                  <a:schemeClr val="accent3"/>
                </a:solidFill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6AEE880E-5996-C446-9192-80517DB9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752D03FB-5492-BA75-8F86-1FE164BC970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06204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 dirty="0"/>
              <a:t>A problematica a ser resolvida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E0F76A32-53DA-4945-5AC7-827528C6B4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077F186A-A52E-8526-D0EC-FDE8179E2F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E43F6915-EC18-0A3A-EE2B-8FD937A7CE1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BF42593A-CC3F-F58A-C5B4-92B3D53C25A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6471ED6-D74D-5F4D-BFAD-E3253925D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4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50" y="205975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problematica a ser resolvida</a:t>
            </a:r>
            <a:endParaRPr dirty="0"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80550" y="1334966"/>
            <a:ext cx="7297358" cy="31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Estudantes usam ferramentas diferentes -</a:t>
            </a:r>
            <a:r>
              <a:rPr lang="pt-BR" b="1" dirty="0"/>
              <a:t> Google </a:t>
            </a:r>
            <a:r>
              <a:rPr lang="pt-BR" b="1" dirty="0" err="1"/>
              <a:t>Meet</a:t>
            </a:r>
            <a:r>
              <a:rPr lang="pt-BR" b="1" dirty="0"/>
              <a:t>, </a:t>
            </a:r>
            <a:r>
              <a:rPr lang="pt-BR" b="1" dirty="0" err="1"/>
              <a:t>Classroom</a:t>
            </a:r>
            <a:r>
              <a:rPr lang="pt-BR" b="1" dirty="0"/>
              <a:t>, </a:t>
            </a:r>
            <a:r>
              <a:rPr lang="pt-BR" b="1" dirty="0" err="1"/>
              <a:t>Teams</a:t>
            </a:r>
            <a:r>
              <a:rPr lang="pt-BR" b="1" dirty="0"/>
              <a:t>, Moodle, e-mail </a:t>
            </a:r>
            <a:r>
              <a:rPr lang="pt-BR" dirty="0"/>
              <a:t>- para acompanhar aulas, atividades e avisos.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Essa fragmentação torna a rotina acadêmica difícil de organizar, dificultando o acompanhamento diário das tarefas e impactando diretamente o rendimento e a gestão do tempo do estudante.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5" name="Google Shape;856;p49">
            <a:extLst>
              <a:ext uri="{FF2B5EF4-FFF2-40B4-BE49-F238E27FC236}">
                <a16:creationId xmlns:a16="http://schemas.microsoft.com/office/drawing/2014/main" id="{0C4A6812-BD37-41E3-B73E-78050F9704E1}"/>
              </a:ext>
            </a:extLst>
          </p:cNvPr>
          <p:cNvGrpSpPr/>
          <p:nvPr/>
        </p:nvGrpSpPr>
        <p:grpSpPr>
          <a:xfrm>
            <a:off x="7594629" y="356364"/>
            <a:ext cx="566558" cy="580939"/>
            <a:chOff x="3955900" y="2984500"/>
            <a:chExt cx="414000" cy="422525"/>
          </a:xfrm>
        </p:grpSpPr>
        <p:sp>
          <p:nvSpPr>
            <p:cNvPr id="6" name="Google Shape;857;p49">
              <a:extLst>
                <a:ext uri="{FF2B5EF4-FFF2-40B4-BE49-F238E27FC236}">
                  <a16:creationId xmlns:a16="http://schemas.microsoft.com/office/drawing/2014/main" id="{46A266BB-3FFD-47BA-81A8-256A9BBB6B3A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58;p49">
              <a:extLst>
                <a:ext uri="{FF2B5EF4-FFF2-40B4-BE49-F238E27FC236}">
                  <a16:creationId xmlns:a16="http://schemas.microsoft.com/office/drawing/2014/main" id="{6341C016-E910-4F72-9FEA-F9CC3058716C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59;p49">
              <a:extLst>
                <a:ext uri="{FF2B5EF4-FFF2-40B4-BE49-F238E27FC236}">
                  <a16:creationId xmlns:a16="http://schemas.microsoft.com/office/drawing/2014/main" id="{734DD61E-4E60-49D8-9C3D-618BA0813333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" name="Google Shape;689;p48">
            <a:extLst>
              <a:ext uri="{FF2B5EF4-FFF2-40B4-BE49-F238E27FC236}">
                <a16:creationId xmlns:a16="http://schemas.microsoft.com/office/drawing/2014/main" id="{64D46A2E-5B7E-499E-9035-EC83118B96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8182" y="3962036"/>
            <a:ext cx="836651" cy="911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2E701BD-5052-2AD4-C239-3249FE68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D7B30907-96E3-A7C5-4C0C-CACA13A940F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06204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 dirty="0"/>
              <a:t>A Solução proposta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4CED29D5-79A1-8D25-F373-2D7E88C2C82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C7DD24F2-599C-3071-9E59-A904B34B22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45DE21A6-3328-83EB-C40B-E62A2A42ECA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467A23A0-C749-0C0E-B37B-6DA94B06367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04E1D02-DE96-0722-BBA8-E031946A9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8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50" y="341226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Solução proposta</a:t>
            </a:r>
            <a:endParaRPr dirty="0"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80550" y="1528397"/>
            <a:ext cx="7613881" cy="235780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A proposta é um </a:t>
            </a:r>
            <a:r>
              <a:rPr lang="pt-BR" b="1" dirty="0"/>
              <a:t>site centralizado </a:t>
            </a:r>
            <a:r>
              <a:rPr lang="pt-BR" dirty="0"/>
              <a:t>que unifica a rotina acadêmica em um único ambiente online — acessível diretamente pelo navegador sem necessidade de instalação —, substituindo a navegação por múltiplos canais (</a:t>
            </a:r>
            <a:r>
              <a:rPr lang="pt-BR" dirty="0" err="1"/>
              <a:t>Classroom</a:t>
            </a:r>
            <a:r>
              <a:rPr lang="pt-BR" dirty="0"/>
              <a:t>, </a:t>
            </a:r>
            <a:r>
              <a:rPr lang="pt-BR" dirty="0" err="1"/>
              <a:t>Teams</a:t>
            </a:r>
            <a:r>
              <a:rPr lang="pt-BR" dirty="0"/>
              <a:t>, Moodle, </a:t>
            </a:r>
            <a:r>
              <a:rPr lang="pt-BR" dirty="0" err="1"/>
              <a:t>Meet</a:t>
            </a:r>
            <a:r>
              <a:rPr lang="pt-BR" dirty="0"/>
              <a:t> e e-mail).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pt-BR" dirty="0"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5" name="Google Shape;853;p49">
            <a:extLst>
              <a:ext uri="{FF2B5EF4-FFF2-40B4-BE49-F238E27FC236}">
                <a16:creationId xmlns:a16="http://schemas.microsoft.com/office/drawing/2014/main" id="{68DE3C6A-925C-452C-A16E-0E9380183D30}"/>
              </a:ext>
            </a:extLst>
          </p:cNvPr>
          <p:cNvGrpSpPr/>
          <p:nvPr/>
        </p:nvGrpSpPr>
        <p:grpSpPr>
          <a:xfrm>
            <a:off x="7326352" y="553007"/>
            <a:ext cx="868079" cy="645619"/>
            <a:chOff x="5255200" y="3006475"/>
            <a:chExt cx="511700" cy="378575"/>
          </a:xfrm>
        </p:grpSpPr>
        <p:sp>
          <p:nvSpPr>
            <p:cNvPr id="6" name="Google Shape;854;p49">
              <a:extLst>
                <a:ext uri="{FF2B5EF4-FFF2-40B4-BE49-F238E27FC236}">
                  <a16:creationId xmlns:a16="http://schemas.microsoft.com/office/drawing/2014/main" id="{93CA6510-4FE7-48AA-8AAF-52FBA7E21E11}"/>
                </a:ext>
              </a:extLst>
            </p:cNvPr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55;p49">
              <a:extLst>
                <a:ext uri="{FF2B5EF4-FFF2-40B4-BE49-F238E27FC236}">
                  <a16:creationId xmlns:a16="http://schemas.microsoft.com/office/drawing/2014/main" id="{08AD0294-1DB6-4690-941D-9F0069225BEF}"/>
                </a:ext>
              </a:extLst>
            </p:cNvPr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" name="Google Shape;688;p48">
            <a:extLst>
              <a:ext uri="{FF2B5EF4-FFF2-40B4-BE49-F238E27FC236}">
                <a16:creationId xmlns:a16="http://schemas.microsoft.com/office/drawing/2014/main" id="{98B2FDD8-C9C8-4943-B625-6249DE03C1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389" y="3838398"/>
            <a:ext cx="831110" cy="911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077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BA6249B-A862-3748-FF91-462CE65C8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59F58C79-F536-CFD8-F6E4-9E63CA9135D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06204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-US" dirty="0" err="1"/>
              <a:t>Recursos</a:t>
            </a:r>
            <a:r>
              <a:rPr lang="en-US" dirty="0"/>
              <a:t> da </a:t>
            </a:r>
            <a:r>
              <a:rPr lang="en-US" dirty="0" err="1"/>
              <a:t>aplicação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C116441D-9A55-1E2F-7C98-B2C1B3013D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DD82FB01-6568-9618-3780-36227F54D14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F0AF83EF-09A0-C66D-D9E2-15B134B17DF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EBC2A605-AE77-AE28-C45A-88B8A3378F14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2FA7075-2D44-46B7-E478-44DFFFDDEE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96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49" y="341226"/>
            <a:ext cx="6752235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Tela inicial – O ponto de partida</a:t>
            </a:r>
            <a:endParaRPr dirty="0"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54044" y="1357680"/>
            <a:ext cx="7926540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Como portal de entrada da plataforma, a tela de </a:t>
            </a:r>
            <a:r>
              <a:rPr lang="pt-BR" b="1" dirty="0"/>
              <a:t>Início</a:t>
            </a:r>
            <a:r>
              <a:rPr lang="pt-BR" dirty="0"/>
              <a:t> atua como um hub central que exibe as instituições em que o estudante está matriculado e permite alternar rapidamente entre as turmas disponíveis. Ao selecionar uma classe, o aluno é direcionado instantaneamente a um painel personalizado com acesso direto a todas as funcionalidades, matérias e conteúdos específicos do seu semestre.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5" name="Google Shape;846;p49">
            <a:extLst>
              <a:ext uri="{FF2B5EF4-FFF2-40B4-BE49-F238E27FC236}">
                <a16:creationId xmlns:a16="http://schemas.microsoft.com/office/drawing/2014/main" id="{4603D314-FBC2-400C-80ED-5B88B644DAB7}"/>
              </a:ext>
            </a:extLst>
          </p:cNvPr>
          <p:cNvGrpSpPr/>
          <p:nvPr/>
        </p:nvGrpSpPr>
        <p:grpSpPr>
          <a:xfrm>
            <a:off x="7408454" y="615875"/>
            <a:ext cx="552204" cy="502920"/>
            <a:chOff x="2583325" y="2972875"/>
            <a:chExt cx="462850" cy="445750"/>
          </a:xfrm>
        </p:grpSpPr>
        <p:sp>
          <p:nvSpPr>
            <p:cNvPr id="6" name="Google Shape;847;p49">
              <a:extLst>
                <a:ext uri="{FF2B5EF4-FFF2-40B4-BE49-F238E27FC236}">
                  <a16:creationId xmlns:a16="http://schemas.microsoft.com/office/drawing/2014/main" id="{481D5DB3-B498-4EA0-9DD2-C71F883FC273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48;p49">
              <a:extLst>
                <a:ext uri="{FF2B5EF4-FFF2-40B4-BE49-F238E27FC236}">
                  <a16:creationId xmlns:a16="http://schemas.microsoft.com/office/drawing/2014/main" id="{E68B9454-5389-4354-B846-44E45EC158F3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408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AB8E336-00E6-609F-221E-71BA14DB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A4444363-FABD-DC02-06AD-DB36B2D0946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06204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 dirty="0"/>
              <a:t>Gerenciamento de Atividades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1289C418-59F3-B686-9953-E660E6E3A6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40041EDC-56F5-1721-DCA4-95A6C38CA2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B88A81D4-09A5-4CAF-51D5-88AA08A72C7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EF4DD664-CD6D-4E3E-8D5B-CC75B9417C1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67BDDB6-32FB-2B59-9DF4-BD919FEEA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91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50" y="341226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Gerenciamento de Atividades</a:t>
            </a:r>
            <a:endParaRPr dirty="0"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54044" y="1357680"/>
            <a:ext cx="7926540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O Módulo de Atividades centraliza as tarefas postadas pelos professores, permitindo filtrá-las facilmente por temas, turmas e instituições. O estudante pode visualizar e entregar trabalhos em diversos formatos — como anexos, redações e questionários —, criados na própria plataforma ou integrados de outros canais, além de definir prioridades de entrega e dar feedback sobre as atividades.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5" name="Google Shape;748;p49">
            <a:extLst>
              <a:ext uri="{FF2B5EF4-FFF2-40B4-BE49-F238E27FC236}">
                <a16:creationId xmlns:a16="http://schemas.microsoft.com/office/drawing/2014/main" id="{6C50BE0F-2B02-4A7B-91B6-EE97010ABA2E}"/>
              </a:ext>
            </a:extLst>
          </p:cNvPr>
          <p:cNvGrpSpPr/>
          <p:nvPr/>
        </p:nvGrpSpPr>
        <p:grpSpPr>
          <a:xfrm>
            <a:off x="7125528" y="559870"/>
            <a:ext cx="523159" cy="638756"/>
            <a:chOff x="584925" y="922575"/>
            <a:chExt cx="415200" cy="502525"/>
          </a:xfrm>
        </p:grpSpPr>
        <p:sp>
          <p:nvSpPr>
            <p:cNvPr id="6" name="Google Shape;749;p49">
              <a:extLst>
                <a:ext uri="{FF2B5EF4-FFF2-40B4-BE49-F238E27FC236}">
                  <a16:creationId xmlns:a16="http://schemas.microsoft.com/office/drawing/2014/main" id="{E08992EC-0743-404E-9B42-F5CFC5DAC91F}"/>
                </a:ext>
              </a:extLst>
            </p:cNvPr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50;p49">
              <a:extLst>
                <a:ext uri="{FF2B5EF4-FFF2-40B4-BE49-F238E27FC236}">
                  <a16:creationId xmlns:a16="http://schemas.microsoft.com/office/drawing/2014/main" id="{A87915D1-56BB-419D-A41D-F453BF0675D2}"/>
                </a:ext>
              </a:extLst>
            </p:cNvPr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51;p49">
              <a:extLst>
                <a:ext uri="{FF2B5EF4-FFF2-40B4-BE49-F238E27FC236}">
                  <a16:creationId xmlns:a16="http://schemas.microsoft.com/office/drawing/2014/main" id="{A1D1FF31-AA37-4F65-B6B1-8A0F7F9BE49F}"/>
                </a:ext>
              </a:extLst>
            </p:cNvPr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19366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F6EA96BB-CDFA-FA06-AB3C-7171B23E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D3DB6250-0729-16C7-5F6B-9766D0FA8A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60380" y="1500722"/>
            <a:ext cx="406204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pt-BR" dirty="0"/>
              <a:t>Agenda Estudantil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E0450159-D144-0E3A-446C-EDE82848AD3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0269" y="2812704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DB4AB193-3FAA-ED51-B30A-65E2959AB5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43C44D1E-1CFB-C13C-8752-73534EC7C68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475447A8-947C-E33F-58CD-D38FBD0B46C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CA94547-06E3-FA75-2538-346C481969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50" y="341226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Agenda Estudantil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54044" y="1492128"/>
            <a:ext cx="7926540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O </a:t>
            </a:r>
            <a:r>
              <a:rPr lang="pt-BR" b="1" dirty="0"/>
              <a:t>Módulo de Agenda </a:t>
            </a:r>
            <a:r>
              <a:rPr lang="pt-BR" dirty="0"/>
              <a:t>centraliza o acompanhamento de prazos, avisos e eventos agendados em um único local. Para facilitar o planejamento e o controle da rotina acadêmica, o estudante pode escolher visualizar todas as suas obrigações no formato de calendário ou em lista.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5" name="Google Shape;724;p49">
            <a:extLst>
              <a:ext uri="{FF2B5EF4-FFF2-40B4-BE49-F238E27FC236}">
                <a16:creationId xmlns:a16="http://schemas.microsoft.com/office/drawing/2014/main" id="{3632C8C1-B6C2-474E-B379-9BA187B56BB2}"/>
              </a:ext>
            </a:extLst>
          </p:cNvPr>
          <p:cNvGrpSpPr/>
          <p:nvPr/>
        </p:nvGrpSpPr>
        <p:grpSpPr>
          <a:xfrm>
            <a:off x="7164593" y="494301"/>
            <a:ext cx="518856" cy="551249"/>
            <a:chOff x="5983625" y="301625"/>
            <a:chExt cx="403000" cy="395050"/>
          </a:xfrm>
        </p:grpSpPr>
        <p:sp>
          <p:nvSpPr>
            <p:cNvPr id="6" name="Google Shape;725;p49">
              <a:extLst>
                <a:ext uri="{FF2B5EF4-FFF2-40B4-BE49-F238E27FC236}">
                  <a16:creationId xmlns:a16="http://schemas.microsoft.com/office/drawing/2014/main" id="{BA2BDFC4-C0AE-4D6E-945A-EAB4D9303738}"/>
                </a:ext>
              </a:extLst>
            </p:cNvPr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26;p49">
              <a:extLst>
                <a:ext uri="{FF2B5EF4-FFF2-40B4-BE49-F238E27FC236}">
                  <a16:creationId xmlns:a16="http://schemas.microsoft.com/office/drawing/2014/main" id="{C0BA0946-E12A-4490-9175-01ACB025E178}"/>
                </a:ext>
              </a:extLst>
            </p:cNvPr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27;p49">
              <a:extLst>
                <a:ext uri="{FF2B5EF4-FFF2-40B4-BE49-F238E27FC236}">
                  <a16:creationId xmlns:a16="http://schemas.microsoft.com/office/drawing/2014/main" id="{1CE936A8-0C4C-43D2-90AA-30BAA5B9E44A}"/>
                </a:ext>
              </a:extLst>
            </p:cNvPr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728;p49">
              <a:extLst>
                <a:ext uri="{FF2B5EF4-FFF2-40B4-BE49-F238E27FC236}">
                  <a16:creationId xmlns:a16="http://schemas.microsoft.com/office/drawing/2014/main" id="{36798B65-47F3-4C5C-9F99-20AB155AD815}"/>
                </a:ext>
              </a:extLst>
            </p:cNvPr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729;p49">
              <a:extLst>
                <a:ext uri="{FF2B5EF4-FFF2-40B4-BE49-F238E27FC236}">
                  <a16:creationId xmlns:a16="http://schemas.microsoft.com/office/drawing/2014/main" id="{A416A740-C888-4AF9-BFF0-9C9F0922C701}"/>
                </a:ext>
              </a:extLst>
            </p:cNvPr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730;p49">
              <a:extLst>
                <a:ext uri="{FF2B5EF4-FFF2-40B4-BE49-F238E27FC236}">
                  <a16:creationId xmlns:a16="http://schemas.microsoft.com/office/drawing/2014/main" id="{88ACB465-C21B-4CF9-B0EA-F114A698575F}"/>
                </a:ext>
              </a:extLst>
            </p:cNvPr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31;p49">
              <a:extLst>
                <a:ext uri="{FF2B5EF4-FFF2-40B4-BE49-F238E27FC236}">
                  <a16:creationId xmlns:a16="http://schemas.microsoft.com/office/drawing/2014/main" id="{D75A75EB-761A-4B66-8507-C3040939C25B}"/>
                </a:ext>
              </a:extLst>
            </p:cNvPr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32;p49">
              <a:extLst>
                <a:ext uri="{FF2B5EF4-FFF2-40B4-BE49-F238E27FC236}">
                  <a16:creationId xmlns:a16="http://schemas.microsoft.com/office/drawing/2014/main" id="{2EB25FD1-91A6-4A88-AC5F-D71C19BE4A42}"/>
                </a:ext>
              </a:extLst>
            </p:cNvPr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33;p49">
              <a:extLst>
                <a:ext uri="{FF2B5EF4-FFF2-40B4-BE49-F238E27FC236}">
                  <a16:creationId xmlns:a16="http://schemas.microsoft.com/office/drawing/2014/main" id="{F5F8E5A9-4239-4884-AD45-BE2F8F3B997F}"/>
                </a:ext>
              </a:extLst>
            </p:cNvPr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34;p49">
              <a:extLst>
                <a:ext uri="{FF2B5EF4-FFF2-40B4-BE49-F238E27FC236}">
                  <a16:creationId xmlns:a16="http://schemas.microsoft.com/office/drawing/2014/main" id="{33E8B3C1-5D15-41CA-AB3F-6E09CFF5A188}"/>
                </a:ext>
              </a:extLst>
            </p:cNvPr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35;p49">
              <a:extLst>
                <a:ext uri="{FF2B5EF4-FFF2-40B4-BE49-F238E27FC236}">
                  <a16:creationId xmlns:a16="http://schemas.microsoft.com/office/drawing/2014/main" id="{E29F935C-0991-4FB5-A99B-A5080E08F349}"/>
                </a:ext>
              </a:extLst>
            </p:cNvPr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36;p49">
              <a:extLst>
                <a:ext uri="{FF2B5EF4-FFF2-40B4-BE49-F238E27FC236}">
                  <a16:creationId xmlns:a16="http://schemas.microsoft.com/office/drawing/2014/main" id="{D3D93BC5-6B11-4497-A054-29F1308A266C}"/>
                </a:ext>
              </a:extLst>
            </p:cNvPr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37;p49">
              <a:extLst>
                <a:ext uri="{FF2B5EF4-FFF2-40B4-BE49-F238E27FC236}">
                  <a16:creationId xmlns:a16="http://schemas.microsoft.com/office/drawing/2014/main" id="{0F04F56E-7DE1-4791-A9E4-6A49A451AA6A}"/>
                </a:ext>
              </a:extLst>
            </p:cNvPr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38;p49">
              <a:extLst>
                <a:ext uri="{FF2B5EF4-FFF2-40B4-BE49-F238E27FC236}">
                  <a16:creationId xmlns:a16="http://schemas.microsoft.com/office/drawing/2014/main" id="{E13196E2-1509-464A-9883-5F55D0AF934B}"/>
                </a:ext>
              </a:extLst>
            </p:cNvPr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39;p49">
              <a:extLst>
                <a:ext uri="{FF2B5EF4-FFF2-40B4-BE49-F238E27FC236}">
                  <a16:creationId xmlns:a16="http://schemas.microsoft.com/office/drawing/2014/main" id="{1BCB8E72-17C9-41FA-91A3-605E4E5CED1C}"/>
                </a:ext>
              </a:extLst>
            </p:cNvPr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40;p49">
              <a:extLst>
                <a:ext uri="{FF2B5EF4-FFF2-40B4-BE49-F238E27FC236}">
                  <a16:creationId xmlns:a16="http://schemas.microsoft.com/office/drawing/2014/main" id="{7BF4CDF2-9704-45CD-A0E6-3A49751BFDCF}"/>
                </a:ext>
              </a:extLst>
            </p:cNvPr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41;p49">
              <a:extLst>
                <a:ext uri="{FF2B5EF4-FFF2-40B4-BE49-F238E27FC236}">
                  <a16:creationId xmlns:a16="http://schemas.microsoft.com/office/drawing/2014/main" id="{DF36E6F3-2617-4BBA-AD84-62361A187A6D}"/>
                </a:ext>
              </a:extLst>
            </p:cNvPr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42;p49">
              <a:extLst>
                <a:ext uri="{FF2B5EF4-FFF2-40B4-BE49-F238E27FC236}">
                  <a16:creationId xmlns:a16="http://schemas.microsoft.com/office/drawing/2014/main" id="{12EBA72C-C2E0-4233-B0E4-76AA38FA1981}"/>
                </a:ext>
              </a:extLst>
            </p:cNvPr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3;p49">
              <a:extLst>
                <a:ext uri="{FF2B5EF4-FFF2-40B4-BE49-F238E27FC236}">
                  <a16:creationId xmlns:a16="http://schemas.microsoft.com/office/drawing/2014/main" id="{126C5B5E-78C1-4301-B0EA-C2FAE67DD2E2}"/>
                </a:ext>
              </a:extLst>
            </p:cNvPr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4;p49">
              <a:extLst>
                <a:ext uri="{FF2B5EF4-FFF2-40B4-BE49-F238E27FC236}">
                  <a16:creationId xmlns:a16="http://schemas.microsoft.com/office/drawing/2014/main" id="{ACEB6DB8-AE3C-40DB-909F-34E5612633D6}"/>
                </a:ext>
              </a:extLst>
            </p:cNvPr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896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CAB136B-83EA-AB50-8BB8-8521BAF8F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07766FF6-7743-96BF-1E3B-89502E1E56A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06204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pt-BR" dirty="0"/>
              <a:t>Informações Importantes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3B90B46C-7CFA-F3AB-0ABC-CC032B2C72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85E589BC-9631-BD18-FE0E-AA5F736B26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722F56F4-0079-C205-65C0-ACA812DF784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8B82A8C4-C5D3-03D0-0BEA-41E608FB9EE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EA73EC4-5894-2D3E-5699-DBAEA265E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35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50" y="341226"/>
            <a:ext cx="6014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Informações Importantes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54044" y="1492128"/>
            <a:ext cx="7570048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O módulo de </a:t>
            </a:r>
            <a:r>
              <a:rPr lang="pt-BR" b="1" dirty="0"/>
              <a:t>Estatísticas Rápidas </a:t>
            </a:r>
            <a:r>
              <a:rPr lang="pt-BR" dirty="0"/>
              <a:t>oferece um painel do desempenho acadêmico do aluno, apresentando gráficos intuitivos sobre notas, faltas e a situação em cada disciplina. A ferramenta também fornece recomendações automáticas sobre quais atividades devem ser realizadas com maior prioridade.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5" name="Google Shape;914;p49">
            <a:extLst>
              <a:ext uri="{FF2B5EF4-FFF2-40B4-BE49-F238E27FC236}">
                <a16:creationId xmlns:a16="http://schemas.microsoft.com/office/drawing/2014/main" id="{AF7B2F91-67F5-4A21-A4C8-40BF3313ABF7}"/>
              </a:ext>
            </a:extLst>
          </p:cNvPr>
          <p:cNvSpPr/>
          <p:nvPr/>
        </p:nvSpPr>
        <p:spPr>
          <a:xfrm>
            <a:off x="7063813" y="525975"/>
            <a:ext cx="477297" cy="487901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95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D191AD22-D8C6-FF04-528F-22B7A0553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62778A46-FA4F-296F-57EF-D56021D16E9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659550"/>
            <a:ext cx="4062046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pt-BR" dirty="0"/>
              <a:t>Documentação e Dados Relevantes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82AF8114-94A9-8D8B-FE0D-594AC1D231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A148F761-9E8C-C78E-47CB-19C5B80F65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DF2AF21F-0FFD-486D-98B5-2373FDC159A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4B9F721B-AE1C-5521-C7A5-BB702667DD3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7B87A6A-EA34-6720-05AB-633ED72F44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7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49" y="341226"/>
            <a:ext cx="7103927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Documentação e Dados Relevantes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54044" y="1492128"/>
            <a:ext cx="7570048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O módulo de </a:t>
            </a:r>
            <a:r>
              <a:rPr lang="pt-BR" b="1" dirty="0"/>
              <a:t>Controle de Curso </a:t>
            </a:r>
            <a:r>
              <a:rPr lang="pt-BR" dirty="0"/>
              <a:t>reúne todas as informações institucionais e administrativas do estudante em um único lugar, permitindo consultar dados da turma, histórico de notas e faltas, emissão de documentos acadêmicos e todas as normas relativas à regulamentação da matrícula.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grpSp>
        <p:nvGrpSpPr>
          <p:cNvPr id="5" name="Google Shape;782;p49">
            <a:extLst>
              <a:ext uri="{FF2B5EF4-FFF2-40B4-BE49-F238E27FC236}">
                <a16:creationId xmlns:a16="http://schemas.microsoft.com/office/drawing/2014/main" id="{E1A00B3F-60C7-407C-8AD2-FDC92FFA29CE}"/>
              </a:ext>
            </a:extLst>
          </p:cNvPr>
          <p:cNvGrpSpPr/>
          <p:nvPr/>
        </p:nvGrpSpPr>
        <p:grpSpPr>
          <a:xfrm>
            <a:off x="7941342" y="587176"/>
            <a:ext cx="539242" cy="531619"/>
            <a:chOff x="1922075" y="1629000"/>
            <a:chExt cx="437200" cy="437200"/>
          </a:xfrm>
        </p:grpSpPr>
        <p:sp>
          <p:nvSpPr>
            <p:cNvPr id="6" name="Google Shape;783;p49">
              <a:extLst>
                <a:ext uri="{FF2B5EF4-FFF2-40B4-BE49-F238E27FC236}">
                  <a16:creationId xmlns:a16="http://schemas.microsoft.com/office/drawing/2014/main" id="{EAE5F2A7-76DE-4249-930A-C5D777D26564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84;p49">
              <a:extLst>
                <a:ext uri="{FF2B5EF4-FFF2-40B4-BE49-F238E27FC236}">
                  <a16:creationId xmlns:a16="http://schemas.microsoft.com/office/drawing/2014/main" id="{87C45897-51BC-4126-87D1-27431E1238BE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846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A65A249-4A55-CD76-7E48-BC103A22B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613FD9A0-5726-7BEF-C8FF-A6B7E06C3C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1659550"/>
            <a:ext cx="4273475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pt-BR" dirty="0"/>
              <a:t>Tecnologias e Arquitetura do site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66FE5721-D8AB-246E-AA70-5972AC3B0FF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577B391B-57FE-2C91-6A95-677BBDD9EA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CA4D2811-B0F4-D714-FD85-39A6554AA0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31B79C12-BC95-2E57-D489-661752A2D36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AD97423-800D-DE23-1E6F-FC97188DF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9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49" y="341226"/>
            <a:ext cx="7103927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Tecnologias e Arquitetura do site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14414" y="1339728"/>
            <a:ext cx="8115171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A plataforma utiliza </a:t>
            </a:r>
            <a:r>
              <a:rPr lang="pt-BR" b="1" dirty="0"/>
              <a:t>HTML, CSS, </a:t>
            </a:r>
            <a:r>
              <a:rPr lang="pt-BR" b="1" dirty="0" err="1"/>
              <a:t>JavaScript</a:t>
            </a:r>
            <a:r>
              <a:rPr lang="pt-BR" b="1" dirty="0"/>
              <a:t>, </a:t>
            </a:r>
            <a:r>
              <a:rPr lang="pt-BR" b="1" dirty="0" err="1"/>
              <a:t>Bootstrap</a:t>
            </a:r>
            <a:r>
              <a:rPr lang="pt-BR" b="1" dirty="0"/>
              <a:t> e XAML</a:t>
            </a:r>
            <a:r>
              <a:rPr lang="pt-BR" dirty="0"/>
              <a:t> para entregar uma interface fluida, moderna e responsiva em qualquer dispositivo, mantendo uma arquitetura flexível para a adição de novas tecnologias. No gerenciamento de dados, o banco de dados integrado (MySQL) garante o armazenamento seguro de registros, notas e documentos, permitindo a sincronização contínua com sistemas externos e o acesso centralizado às informações da universidade.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5" name="Google Shape;861;p49">
            <a:extLst>
              <a:ext uri="{FF2B5EF4-FFF2-40B4-BE49-F238E27FC236}">
                <a16:creationId xmlns:a16="http://schemas.microsoft.com/office/drawing/2014/main" id="{5D70038C-C93C-4A47-A087-4EF42F641DAE}"/>
              </a:ext>
            </a:extLst>
          </p:cNvPr>
          <p:cNvSpPr/>
          <p:nvPr/>
        </p:nvSpPr>
        <p:spPr>
          <a:xfrm>
            <a:off x="7489760" y="565184"/>
            <a:ext cx="389431" cy="521338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157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0391143-4B92-4EEB-C507-2B27BD42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4E551E2E-DBD1-3134-D3EA-1219F4C400C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1659550"/>
            <a:ext cx="4273475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pt-BR" dirty="0"/>
              <a:t>Arquitetura do Software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B644271B-0AAD-2C35-0084-AA17ED44EC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D80947E9-81F2-9776-3DFA-B118AD744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BBAB83F3-AA91-8178-51E5-9888AADF4C3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04898D7D-04F2-A403-793B-2A8AF5FEA5C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73E168E-BC28-2A36-06AB-61D76862C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3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16003" y="52877"/>
            <a:ext cx="7103927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Arquitetura do Software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249091" y="1070804"/>
            <a:ext cx="8780193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pt-BR" dirty="0"/>
              <a:t>A arquitetura do sistema adota o padrão </a:t>
            </a:r>
            <a:r>
              <a:rPr lang="pt-BR" b="1" dirty="0"/>
              <a:t>MVC (Model-</a:t>
            </a:r>
            <a:r>
              <a:rPr lang="pt-BR" b="1" dirty="0" err="1"/>
              <a:t>View</a:t>
            </a:r>
            <a:r>
              <a:rPr lang="pt-BR" b="1" dirty="0"/>
              <a:t>-</a:t>
            </a:r>
            <a:r>
              <a:rPr lang="pt-BR" b="1" dirty="0" err="1"/>
              <a:t>Controller</a:t>
            </a:r>
            <a:r>
              <a:rPr lang="pt-BR" b="1" dirty="0"/>
              <a:t>) </a:t>
            </a:r>
            <a:r>
              <a:rPr lang="pt-BR" dirty="0"/>
              <a:t>para garantir a separação de responsabilidades entre a interface e a lógica de negócios. A camada visual (</a:t>
            </a:r>
            <a:r>
              <a:rPr lang="pt-BR" b="1" dirty="0" err="1"/>
              <a:t>View</a:t>
            </a:r>
            <a:r>
              <a:rPr lang="pt-BR" dirty="0"/>
              <a:t>) utiliza </a:t>
            </a:r>
            <a:r>
              <a:rPr lang="pt-BR" b="1" dirty="0"/>
              <a:t>HTML, CSS, </a:t>
            </a:r>
            <a:r>
              <a:rPr lang="pt-BR" b="1" dirty="0" err="1"/>
              <a:t>JavaScript</a:t>
            </a:r>
            <a:r>
              <a:rPr lang="pt-BR" b="1" dirty="0"/>
              <a:t>, </a:t>
            </a:r>
            <a:r>
              <a:rPr lang="pt-BR" b="1" dirty="0" err="1"/>
              <a:t>Bootstrap</a:t>
            </a:r>
            <a:r>
              <a:rPr lang="pt-BR" b="1" dirty="0"/>
              <a:t> e XAML</a:t>
            </a:r>
            <a:r>
              <a:rPr lang="pt-BR" dirty="0"/>
              <a:t> para oferecer navegação fluida e adaptável a qualquer dispositivo. O </a:t>
            </a:r>
            <a:r>
              <a:rPr lang="pt-BR" dirty="0" err="1"/>
              <a:t>back-end</a:t>
            </a:r>
            <a:r>
              <a:rPr lang="pt-BR" dirty="0"/>
              <a:t> (</a:t>
            </a:r>
            <a:r>
              <a:rPr lang="pt-BR" b="1" dirty="0"/>
              <a:t>Model</a:t>
            </a:r>
            <a:r>
              <a:rPr lang="pt-BR" dirty="0"/>
              <a:t>) executa a </a:t>
            </a:r>
            <a:r>
              <a:rPr lang="pt-BR" b="1" dirty="0"/>
              <a:t>Modelagem de Dados</a:t>
            </a:r>
            <a:r>
              <a:rPr lang="pt-BR" dirty="0"/>
              <a:t> relacional em </a:t>
            </a:r>
            <a:r>
              <a:rPr lang="pt-BR" b="1" dirty="0"/>
              <a:t>MySQL/</a:t>
            </a:r>
            <a:r>
              <a:rPr lang="pt-BR" b="1" dirty="0" err="1"/>
              <a:t>PHPMyAdmin</a:t>
            </a:r>
            <a:r>
              <a:rPr lang="pt-BR" dirty="0"/>
              <a:t>, conectando as informações do sistema por meio de chaves primárias e estrangeiras para assegurar a integridade e a segurança dos registros acadêmicos.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pSp>
        <p:nvGrpSpPr>
          <p:cNvPr id="5" name="Google Shape;947;p49">
            <a:extLst>
              <a:ext uri="{FF2B5EF4-FFF2-40B4-BE49-F238E27FC236}">
                <a16:creationId xmlns:a16="http://schemas.microsoft.com/office/drawing/2014/main" id="{4A31D5EE-4AD7-4384-B314-CCC1607044A9}"/>
              </a:ext>
            </a:extLst>
          </p:cNvPr>
          <p:cNvGrpSpPr/>
          <p:nvPr/>
        </p:nvGrpSpPr>
        <p:grpSpPr>
          <a:xfrm>
            <a:off x="6147470" y="272796"/>
            <a:ext cx="694393" cy="637481"/>
            <a:chOff x="4562200" y="4968250"/>
            <a:chExt cx="549550" cy="499475"/>
          </a:xfrm>
        </p:grpSpPr>
        <p:sp>
          <p:nvSpPr>
            <p:cNvPr id="6" name="Google Shape;948;p49">
              <a:extLst>
                <a:ext uri="{FF2B5EF4-FFF2-40B4-BE49-F238E27FC236}">
                  <a16:creationId xmlns:a16="http://schemas.microsoft.com/office/drawing/2014/main" id="{9236A226-E75C-40F3-852D-1877FAC8A156}"/>
                </a:ext>
              </a:extLst>
            </p:cNvPr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49;p49">
              <a:extLst>
                <a:ext uri="{FF2B5EF4-FFF2-40B4-BE49-F238E27FC236}">
                  <a16:creationId xmlns:a16="http://schemas.microsoft.com/office/drawing/2014/main" id="{AFFBCF6C-DDA5-423B-B73F-D80831EDD674}"/>
                </a:ext>
              </a:extLst>
            </p:cNvPr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50;p49">
              <a:extLst>
                <a:ext uri="{FF2B5EF4-FFF2-40B4-BE49-F238E27FC236}">
                  <a16:creationId xmlns:a16="http://schemas.microsoft.com/office/drawing/2014/main" id="{204BB540-12FD-4C4A-9398-023AEB765310}"/>
                </a:ext>
              </a:extLst>
            </p:cNvPr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51;p49">
              <a:extLst>
                <a:ext uri="{FF2B5EF4-FFF2-40B4-BE49-F238E27FC236}">
                  <a16:creationId xmlns:a16="http://schemas.microsoft.com/office/drawing/2014/main" id="{03D28E8D-D55F-41A2-828C-08C35224D299}"/>
                </a:ext>
              </a:extLst>
            </p:cNvPr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52;p49">
              <a:extLst>
                <a:ext uri="{FF2B5EF4-FFF2-40B4-BE49-F238E27FC236}">
                  <a16:creationId xmlns:a16="http://schemas.microsoft.com/office/drawing/2014/main" id="{C4DDF812-1E53-474A-B8C0-04521BB663EB}"/>
                </a:ext>
              </a:extLst>
            </p:cNvPr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6413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B292BA2D-EAD3-60CB-29AB-BEBC67268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B7A01B2E-6F29-B4CA-20F5-BC06C179F2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1659550"/>
            <a:ext cx="4854389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pt-BR" dirty="0"/>
              <a:t>Impactos e Resultados Esperados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C33B8651-6EFD-9FDB-DBE8-3FE681C90F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067114D2-8814-9B76-350F-1B5541F346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7A881143-0CC6-5263-895E-477DB92AD17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E6559816-585C-16AB-134B-4E481347DA7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B87887C-AF88-AB40-9857-5525FE4BE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6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49" y="341226"/>
            <a:ext cx="7103927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Impactos e Resultados Esperados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54043" y="1492128"/>
            <a:ext cx="8115171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A implantação do site visa reduzir significativamente a perda de prazos acadêmicos e o estresse causado pela descentralização de informações. Espera-se uma melhoria direta na gestão do tempo dos estudantes, maior taxa de entrega das atividades e uma comunicação mais transparente e eficiente entre a instituição, os docentes e as turmas.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5" name="Google Shape;790;p49">
            <a:extLst>
              <a:ext uri="{FF2B5EF4-FFF2-40B4-BE49-F238E27FC236}">
                <a16:creationId xmlns:a16="http://schemas.microsoft.com/office/drawing/2014/main" id="{538FDB13-3C87-4110-9A28-91A61AD22085}"/>
              </a:ext>
            </a:extLst>
          </p:cNvPr>
          <p:cNvGrpSpPr/>
          <p:nvPr/>
        </p:nvGrpSpPr>
        <p:grpSpPr>
          <a:xfrm>
            <a:off x="7684476" y="506797"/>
            <a:ext cx="426790" cy="691829"/>
            <a:chOff x="3984000" y="1594200"/>
            <a:chExt cx="357800" cy="506800"/>
          </a:xfrm>
        </p:grpSpPr>
        <p:sp>
          <p:nvSpPr>
            <p:cNvPr id="6" name="Google Shape;791;p49">
              <a:extLst>
                <a:ext uri="{FF2B5EF4-FFF2-40B4-BE49-F238E27FC236}">
                  <a16:creationId xmlns:a16="http://schemas.microsoft.com/office/drawing/2014/main" id="{D6DB40E7-177B-4C33-8AD8-E6874291FE8A}"/>
                </a:ext>
              </a:extLst>
            </p:cNvPr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92;p49">
              <a:extLst>
                <a:ext uri="{FF2B5EF4-FFF2-40B4-BE49-F238E27FC236}">
                  <a16:creationId xmlns:a16="http://schemas.microsoft.com/office/drawing/2014/main" id="{4B5644FB-AE7D-4DFD-B94A-69F1B5AA0192}"/>
                </a:ext>
              </a:extLst>
            </p:cNvPr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2098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60BCDCD-BB46-A9B5-A653-C8412D7E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>
            <a:extLst>
              <a:ext uri="{FF2B5EF4-FFF2-40B4-BE49-F238E27FC236}">
                <a16:creationId xmlns:a16="http://schemas.microsoft.com/office/drawing/2014/main" id="{DB218EA4-ED81-CCDE-2F2D-B2A2AB6B164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29280" y="1561285"/>
            <a:ext cx="4854389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pt-BR" dirty="0"/>
              <a:t>Considerações Finais</a:t>
            </a:r>
            <a:endParaRPr dirty="0"/>
          </a:p>
        </p:txBody>
      </p:sp>
      <p:sp>
        <p:nvSpPr>
          <p:cNvPr id="95" name="Google Shape;95;p17">
            <a:extLst>
              <a:ext uri="{FF2B5EF4-FFF2-40B4-BE49-F238E27FC236}">
                <a16:creationId xmlns:a16="http://schemas.microsoft.com/office/drawing/2014/main" id="{6D7CD3E9-CA99-47C7-B007-5535D187EA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02315"/>
            <a:ext cx="3036346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Narrado por: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João Vitor Costa do Nascimento </a:t>
            </a:r>
          </a:p>
          <a:p>
            <a:pPr marL="0" lvl="0" indent="0"/>
            <a:r>
              <a:rPr lang="en" dirty="0"/>
              <a:t>RA: </a:t>
            </a:r>
            <a:r>
              <a:rPr lang="pt-BR" dirty="0"/>
              <a:t>2510482613025</a:t>
            </a:r>
            <a:endParaRPr lang="en" dirty="0"/>
          </a:p>
        </p:txBody>
      </p:sp>
      <p:pic>
        <p:nvPicPr>
          <p:cNvPr id="96" name="Google Shape;96;p17">
            <a:extLst>
              <a:ext uri="{FF2B5EF4-FFF2-40B4-BE49-F238E27FC236}">
                <a16:creationId xmlns:a16="http://schemas.microsoft.com/office/drawing/2014/main" id="{598848DF-B392-C0BD-3C47-E1109571579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705" y="2045304"/>
            <a:ext cx="2219340" cy="11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>
            <a:extLst>
              <a:ext uri="{FF2B5EF4-FFF2-40B4-BE49-F238E27FC236}">
                <a16:creationId xmlns:a16="http://schemas.microsoft.com/office/drawing/2014/main" id="{A49440A3-1CCA-53C9-A47C-A2D663D9157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680" y="2449022"/>
            <a:ext cx="145275" cy="42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155EEB63-08B1-14F6-4508-16833803776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6726" y="1237502"/>
            <a:ext cx="1032700" cy="12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F197D3B-8FAF-D7B0-7485-363F9A4C1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60" y="3900324"/>
            <a:ext cx="823359" cy="103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37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580549" y="341226"/>
            <a:ext cx="7103927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Considerações Finais</a:t>
            </a:r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554043" y="1492128"/>
            <a:ext cx="8115171" cy="215924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pt-BR" dirty="0"/>
              <a:t>A plataforma foi concebida com uma arquitetura flexível e escalável, preparada para evoluir continuamente e acompanhar as necessidades futuras dos estudantes. Submetemos este projeto à sua avaliação com o compromisso de aprimorar a ferramenta, e ficamos à disposição para receber suas considerações, correções e sugestões de melhoria.</a:t>
            </a:r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5" name="Google Shape;900;p49">
            <a:extLst>
              <a:ext uri="{FF2B5EF4-FFF2-40B4-BE49-F238E27FC236}">
                <a16:creationId xmlns:a16="http://schemas.microsoft.com/office/drawing/2014/main" id="{D9AC0D81-C3E8-4984-8B92-673237DA7964}"/>
              </a:ext>
            </a:extLst>
          </p:cNvPr>
          <p:cNvGrpSpPr/>
          <p:nvPr/>
        </p:nvGrpSpPr>
        <p:grpSpPr>
          <a:xfrm>
            <a:off x="7063510" y="572595"/>
            <a:ext cx="620966" cy="614010"/>
            <a:chOff x="570875" y="4322250"/>
            <a:chExt cx="443300" cy="443325"/>
          </a:xfrm>
        </p:grpSpPr>
        <p:sp>
          <p:nvSpPr>
            <p:cNvPr id="6" name="Google Shape;901;p49">
              <a:extLst>
                <a:ext uri="{FF2B5EF4-FFF2-40B4-BE49-F238E27FC236}">
                  <a16:creationId xmlns:a16="http://schemas.microsoft.com/office/drawing/2014/main" id="{95B11FAB-C19C-403D-A7D8-488DCB01F197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02;p49">
              <a:extLst>
                <a:ext uri="{FF2B5EF4-FFF2-40B4-BE49-F238E27FC236}">
                  <a16:creationId xmlns:a16="http://schemas.microsoft.com/office/drawing/2014/main" id="{EF8420E4-90AE-47D9-B70E-558E7235AB7D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03;p49">
              <a:extLst>
                <a:ext uri="{FF2B5EF4-FFF2-40B4-BE49-F238E27FC236}">
                  <a16:creationId xmlns:a16="http://schemas.microsoft.com/office/drawing/2014/main" id="{FF518C74-A091-4338-802B-94498B66D33D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04;p49">
              <a:extLst>
                <a:ext uri="{FF2B5EF4-FFF2-40B4-BE49-F238E27FC236}">
                  <a16:creationId xmlns:a16="http://schemas.microsoft.com/office/drawing/2014/main" id="{705BAFD1-B2E6-47C9-86F3-55AF532426B1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04;p18">
            <a:extLst>
              <a:ext uri="{FF2B5EF4-FFF2-40B4-BE49-F238E27FC236}">
                <a16:creationId xmlns:a16="http://schemas.microsoft.com/office/drawing/2014/main" id="{09E48103-B6C2-AB74-0F1D-66C21B31DB3B}"/>
              </a:ext>
            </a:extLst>
          </p:cNvPr>
          <p:cNvSpPr txBox="1">
            <a:spLocks/>
          </p:cNvSpPr>
          <p:nvPr/>
        </p:nvSpPr>
        <p:spPr>
          <a:xfrm>
            <a:off x="946309" y="4279775"/>
            <a:ext cx="8997738" cy="94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⬡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 b="0" i="0" u="none" strike="noStrike" cap="none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indent="0">
              <a:buNone/>
            </a:pPr>
            <a:r>
              <a:rPr lang="pt-BR" sz="2000" dirty="0">
                <a:solidFill>
                  <a:schemeClr val="accent3"/>
                </a:solidFill>
              </a:rPr>
              <a:t>Mais informações do Projeto em: </a:t>
            </a:r>
            <a:r>
              <a:rPr lang="pt-BR" sz="2000" u="sng" dirty="0">
                <a:solidFill>
                  <a:schemeClr val="accent3"/>
                </a:solidFill>
              </a:rPr>
              <a:t>github.com/jvzin8040/</a:t>
            </a:r>
            <a:r>
              <a:rPr lang="pt-BR" sz="2000" u="sng" dirty="0" err="1">
                <a:solidFill>
                  <a:schemeClr val="accent3"/>
                </a:solidFill>
              </a:rPr>
              <a:t>StudyHub</a:t>
            </a:r>
            <a:endParaRPr lang="pt-BR" sz="2000" u="sng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43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882</Words>
  <Application>Microsoft Office PowerPoint</Application>
  <PresentationFormat>Apresentação na tela (16:9)</PresentationFormat>
  <Paragraphs>86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Muli</vt:lpstr>
      <vt:lpstr>Lexend Deca</vt:lpstr>
      <vt:lpstr>Arial</vt:lpstr>
      <vt:lpstr>Aliena template</vt:lpstr>
      <vt:lpstr>StudyHub</vt:lpstr>
      <vt:lpstr>A problematica a ser resolvida</vt:lpstr>
      <vt:lpstr>A problematica a ser resolvida</vt:lpstr>
      <vt:lpstr>A Solução proposta</vt:lpstr>
      <vt:lpstr>A Solução proposta</vt:lpstr>
      <vt:lpstr>Recursos da aplicação</vt:lpstr>
      <vt:lpstr>Tela inicial – O ponto de partida</vt:lpstr>
      <vt:lpstr>Gerenciamento de Atividades</vt:lpstr>
      <vt:lpstr>Gerenciamento de Atividades</vt:lpstr>
      <vt:lpstr>Agenda Estudantil</vt:lpstr>
      <vt:lpstr>Agenda Estudantil</vt:lpstr>
      <vt:lpstr>Informações Importantes</vt:lpstr>
      <vt:lpstr>Informações Importantes</vt:lpstr>
      <vt:lpstr>Documentação e Dados Relevantes</vt:lpstr>
      <vt:lpstr>Documentação e Dados Relevantes</vt:lpstr>
      <vt:lpstr>Tecnologias e Arquitetura do site</vt:lpstr>
      <vt:lpstr>Tecnologias e Arquitetura do site</vt:lpstr>
      <vt:lpstr>Arquitetura do Software</vt:lpstr>
      <vt:lpstr>Arquitetura do Software</vt:lpstr>
      <vt:lpstr>Impactos e Resultados Esperados</vt:lpstr>
      <vt:lpstr>Impactos e Resultados Esperados</vt:lpstr>
      <vt:lpstr>Considerações Finais</vt:lpstr>
      <vt:lpstr>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StudyHub</dc:title>
  <dc:creator>João Vitor</dc:creator>
  <cp:lastModifiedBy>João Vitor</cp:lastModifiedBy>
  <cp:revision>2</cp:revision>
  <dcterms:modified xsi:type="dcterms:W3CDTF">2026-09-27T01:53:16Z</dcterms:modified>
</cp:coreProperties>
</file>